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CS35L  ·  FINAL PROJECT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114300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DocuCommit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Git-style version control for legal documents.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F4A4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611880"/>
            <a:ext cx="411480" cy="411480"/>
          </a:xfrm>
          <a:prstGeom prst="oval">
            <a:avLst/>
          </a:prstGeom>
          <a:solidFill>
            <a:srgbClr val="B5432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33832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+ commits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33832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F4A44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3611880"/>
            <a:ext cx="411480" cy="411480"/>
          </a:xfrm>
          <a:prstGeom prst="oval">
            <a:avLst/>
          </a:prstGeom>
          <a:solidFill>
            <a:srgbClr val="B5432E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74920" y="33832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diff engine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55280" y="338328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1F4A44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0" y="3611880"/>
            <a:ext cx="411480" cy="411480"/>
          </a:xfrm>
          <a:prstGeom prst="oval">
            <a:avLst/>
          </a:prstGeom>
          <a:solidFill>
            <a:srgbClr val="B5432E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732520" y="33832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merge + export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 </a:t>
            </a:r>
            <a:pPr indent="0" marL="0">
              <a:buNone/>
            </a:pPr>
            <a:r>
              <a:rPr lang="en-US" sz="1700" i="1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Contract_Final_v10.docx</a:t>
            </a:r>
            <a:pPr indent="0" marL="0">
              <a:buNone/>
            </a:pPr>
            <a:r>
              <a:rPr lang="en-US" sz="1700" dirty="0">
                <a:solidFill>
                  <a:srgbClr val="CF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an auditable document history.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5532120"/>
            <a:ext cx="10881360" cy="0"/>
          </a:xfrm>
          <a:prstGeom prst="line">
            <a:avLst/>
          </a:prstGeom>
          <a:noFill/>
          <a:ln w="12700">
            <a:solidFill>
              <a:srgbClr val="2E54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6692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 Frank Kronewitter · Jacob Dang · Robert Flores · Sammy Adham · Elliott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9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TA:  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contract, draft to merge.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3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33472" y="18745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89504" y="187452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3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2384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72384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82896" y="18745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138928" y="187452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3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21808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21808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18745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88352" y="187452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AD3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71232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81744" y="1874520"/>
            <a:ext cx="457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637776" y="187452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DEEAE7"/>
          </a:solidFill>
          <a:ln w="12700">
            <a:solidFill>
              <a:srgbClr val="DAD3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20656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820656" y="2377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demo shows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279392"/>
            <a:ext cx="109728" cy="109728"/>
          </a:xfrm>
          <a:prstGeom prst="oval">
            <a:avLst/>
          </a:prstGeom>
          <a:solidFill>
            <a:srgbClr val="1F6F70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+ commit history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5800" y="4919472"/>
            <a:ext cx="109728" cy="109728"/>
          </a:xfrm>
          <a:prstGeom prst="oval">
            <a:avLst/>
          </a:prstGeom>
          <a:solidFill>
            <a:srgbClr val="1F6F70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800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word-level visual diff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" y="5559552"/>
            <a:ext cx="109728" cy="109728"/>
          </a:xfrm>
          <a:prstGeom prst="oval">
            <a:avLst/>
          </a:prstGeom>
          <a:solidFill>
            <a:srgbClr val="1F6F70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440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merge + DOCX export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3657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path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5080" y="4279392"/>
            <a:ext cx="109728" cy="109728"/>
          </a:xfrm>
          <a:prstGeom prst="oval">
            <a:avLst/>
          </a:prstGeom>
          <a:solidFill>
            <a:srgbClr val="B5432E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4160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workflow, not isolated buttons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55080" y="4919472"/>
            <a:ext cx="109728" cy="109728"/>
          </a:xfrm>
          <a:prstGeom prst="oval">
            <a:avLst/>
          </a:prstGeom>
          <a:solidFill>
            <a:srgbClr val="B5432E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4800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feature maps to a construction problem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355080" y="5559552"/>
            <a:ext cx="109728" cy="109728"/>
          </a:xfrm>
          <a:prstGeom prst="oval">
            <a:avLst/>
          </a:prstGeom>
          <a:solidFill>
            <a:srgbClr val="B5432E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5440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come from real integration tradeoffs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1  ·  BRANCH + COMMIT HISTORY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without breaking Main.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history as a DAG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184E4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532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contract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2514600"/>
            <a:ext cx="548640" cy="0"/>
          </a:xfrm>
          <a:prstGeom prst="line">
            <a:avLst/>
          </a:prstGeom>
          <a:noFill/>
          <a:ln w="25400">
            <a:solidFill>
              <a:srgbClr val="1F6F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21488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184E4F"/>
          </a:solidFill>
          <a:ln/>
        </p:spPr>
      </p:sp>
      <p:sp>
        <p:nvSpPr>
          <p:cNvPr id="10" name="Text 8"/>
          <p:cNvSpPr/>
          <p:nvPr/>
        </p:nvSpPr>
        <p:spPr>
          <a:xfrm>
            <a:off x="3182112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2112" y="2532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2514600"/>
            <a:ext cx="548640" cy="0"/>
          </a:xfrm>
          <a:prstGeom prst="line">
            <a:avLst/>
          </a:prstGeom>
          <a:noFill/>
          <a:ln w="25400">
            <a:solidFill>
              <a:srgbClr val="1F6F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21488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184E4F"/>
          </a:solidFill>
          <a:ln/>
        </p:spPr>
      </p:sp>
      <p:sp>
        <p:nvSpPr>
          <p:cNvPr id="14" name="Text 12"/>
          <p:cNvSpPr/>
          <p:nvPr/>
        </p:nvSpPr>
        <p:spPr>
          <a:xfrm>
            <a:off x="5559552" y="2240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59552" y="2532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accepted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31920" y="2880360"/>
            <a:ext cx="0" cy="548640"/>
          </a:xfrm>
          <a:prstGeom prst="line">
            <a:avLst/>
          </a:prstGeom>
          <a:noFill/>
          <a:ln w="25400">
            <a:solidFill>
              <a:srgbClr val="B5432E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017520" y="342900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B5432E"/>
          </a:solidFill>
          <a:ln/>
        </p:spPr>
      </p:sp>
      <p:sp>
        <p:nvSpPr>
          <p:cNvPr id="18" name="Text 16"/>
          <p:cNvSpPr/>
          <p:nvPr/>
        </p:nvSpPr>
        <p:spPr>
          <a:xfrm>
            <a:off x="3182112" y="3520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Liability branch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82112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794760"/>
            <a:ext cx="548640" cy="0"/>
          </a:xfrm>
          <a:prstGeom prst="line">
            <a:avLst/>
          </a:prstGeom>
          <a:noFill/>
          <a:ln w="25400">
            <a:solidFill>
              <a:srgbClr val="B5432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94960" y="342900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9E3B27"/>
          </a:solidFill>
          <a:ln/>
        </p:spPr>
      </p:sp>
      <p:sp>
        <p:nvSpPr>
          <p:cNvPr id="22" name="Text 20"/>
          <p:cNvSpPr/>
          <p:nvPr/>
        </p:nvSpPr>
        <p:spPr>
          <a:xfrm>
            <a:off x="5559552" y="3520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9552" y="38130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"limit indemnity"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0" y="169164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AD3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1874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history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001000" y="2322576"/>
            <a:ext cx="868680" cy="292608"/>
          </a:xfrm>
          <a:prstGeom prst="roundRect">
            <a:avLst>
              <a:gd name="adj" fmla="val 12500"/>
            </a:avLst>
          </a:prstGeom>
          <a:solidFill>
            <a:srgbClr val="184E4F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23225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006840" y="2286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legal draft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2916936"/>
            <a:ext cx="868680" cy="292608"/>
          </a:xfrm>
          <a:prstGeom prst="roundRect">
            <a:avLst>
              <a:gd name="adj" fmla="val 12500"/>
            </a:avLst>
          </a:prstGeom>
          <a:solidFill>
            <a:srgbClr val="B5432E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0" y="291693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06840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liability carveout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001000" y="3511296"/>
            <a:ext cx="868680" cy="292608"/>
          </a:xfrm>
          <a:prstGeom prst="roundRect">
            <a:avLst>
              <a:gd name="adj" fmla="val 12500"/>
            </a:avLst>
          </a:prstGeom>
          <a:solidFill>
            <a:srgbClr val="B5432E"/>
          </a:solidFill>
          <a:ln/>
        </p:spPr>
      </p:sp>
      <p:sp>
        <p:nvSpPr>
          <p:cNvPr id="33" name="Text 31"/>
          <p:cNvSpPr/>
          <p:nvPr/>
        </p:nvSpPr>
        <p:spPr>
          <a:xfrm>
            <a:off x="8001000" y="351129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06840" y="3474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 payment window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01000" y="4105656"/>
            <a:ext cx="868680" cy="292608"/>
          </a:xfrm>
          <a:prstGeom prst="roundRect">
            <a:avLst>
              <a:gd name="adj" fmla="val 12500"/>
            </a:avLst>
          </a:prstGeom>
          <a:solidFill>
            <a:srgbClr val="184E4F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41056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06840" y="4069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accepted revision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content is reconstructed by replaying commits — not copied as a separate file. That's why editing a branch never rewrites the official Main document.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2  ·  CUSTOM VISUAL DIFF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 lawyers can actually read.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AD3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 Main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vendor shall deliver services by June </a:t>
            </a:r>
            <a:pPr indent="0" marL="0">
              <a:buNone/>
            </a:pPr>
            <a:r>
              <a:rPr lang="en-US" sz="1350" strike="sngStrike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pPr indent="0" marL="0">
              <a:buNone/>
            </a:pPr>
            <a:r>
              <a:rPr lang="en-US" sz="13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may terminate for </a:t>
            </a:r>
            <a:pPr indent="0" marL="0">
              <a:buNone/>
            </a:pPr>
            <a:r>
              <a:rPr lang="en-US" sz="1350" strike="sngStrike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convenience </a:t>
            </a:r>
            <a:pPr indent="0" marL="0">
              <a:buNone/>
            </a:pPr>
            <a:r>
              <a:rPr lang="en-US" sz="13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breach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Indemnity cap is </a:t>
            </a:r>
            <a:pPr indent="0" marL="0">
              <a:buNone/>
            </a:pPr>
            <a:r>
              <a:rPr lang="en-US" sz="1350" strike="sngStrike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to fees paid </a:t>
            </a:r>
            <a:pPr indent="0" marL="0">
              <a:buNone/>
            </a:pPr>
            <a:r>
              <a:rPr lang="en-US" sz="135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times fees paid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?w=1  ignores whitespace-only noise   ·   green = added, red = removed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0" y="1783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06640" y="2194560"/>
            <a:ext cx="4114800" cy="2606040"/>
          </a:xfrm>
          <a:prstGeom prst="roundRect">
            <a:avLst>
              <a:gd name="adj" fmla="val 2807"/>
            </a:avLst>
          </a:prstGeom>
          <a:solidFill>
            <a:srgbClr val="17302C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2377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B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compute_edit_script(old, new)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35240" y="28346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4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hash shared lines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35240" y="3291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4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trim common prefix / suffix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3524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4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Myers O(ND) shortest path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3524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4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expand to word-level chunks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lesson:  keeping the diff engine a pure function made it testable without Flask, SQLAlchemy, or a browser.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3  ·  SAFE MERGE + EXPORT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— without silent overwrites.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Three-way merge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3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48840"/>
            <a:ext cx="3383280" cy="109728"/>
          </a:xfrm>
          <a:prstGeom prst="rect">
            <a:avLst/>
          </a:prstGeom>
          <a:solidFill>
            <a:srgbClr val="808078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point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0" y="21488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3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148840"/>
            <a:ext cx="3383280" cy="109728"/>
          </a:xfrm>
          <a:prstGeom prst="rect">
            <a:avLst/>
          </a:prstGeom>
          <a:solidFill>
            <a:srgbClr val="184E4F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by teammate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80960" y="2148840"/>
            <a:ext cx="274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955280" y="214884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AD3C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2148840"/>
            <a:ext cx="3383280" cy="109728"/>
          </a:xfrm>
          <a:prstGeom prst="rect">
            <a:avLst/>
          </a:prstGeom>
          <a:solidFill>
            <a:srgbClr val="B5432E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377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Incoming Branch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by drafter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DEEAE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0233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resolver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43434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changes auto-merge. Overlapping edits stop and ask the user to choose Main, Branch, or custom text.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863840" y="38862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2DED7"/>
          </a:solidFill>
          <a:ln/>
        </p:spPr>
      </p:sp>
      <p:sp>
        <p:nvSpPr>
          <p:cNvPr id="23" name="Text 21"/>
          <p:cNvSpPr/>
          <p:nvPr/>
        </p:nvSpPr>
        <p:spPr>
          <a:xfrm>
            <a:off x="809244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merge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92440" y="43434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⬇  Download DOCX — exported straight from the TipTap JSON.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merge only overwrites Main when there's nothing to lose; otherwise the human decides.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/ WHAT WENT WELL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boundaries, real tests.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concerns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109728" cy="749808"/>
          </a:xfrm>
          <a:prstGeom prst="rect">
            <a:avLst/>
          </a:prstGeom>
          <a:solidFill>
            <a:srgbClr val="5B86A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2084832"/>
            <a:ext cx="5833872" cy="749808"/>
          </a:xfrm>
          <a:prstGeom prst="roundRect">
            <a:avLst>
              <a:gd name="adj" fmla="val 7317"/>
            </a:avLst>
          </a:prstGeom>
          <a:solidFill>
            <a:srgbClr val="E5EC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762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views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 · DiffViewer · ConflictResolver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109728" cy="749808"/>
          </a:xfrm>
          <a:prstGeom prst="rect">
            <a:avLst/>
          </a:prstGeom>
          <a:solidFill>
            <a:srgbClr val="3F9A8E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" y="2999232"/>
            <a:ext cx="5833872" cy="749808"/>
          </a:xfrm>
          <a:prstGeom prst="roundRect">
            <a:avLst>
              <a:gd name="adj" fmla="val 7317"/>
            </a:avLst>
          </a:prstGeom>
          <a:solidFill>
            <a:srgbClr val="DEEAE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906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routes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· branches · merge · auth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109728" cy="749808"/>
          </a:xfrm>
          <a:prstGeom prst="rect">
            <a:avLst/>
          </a:prstGeom>
          <a:solidFill>
            <a:srgbClr val="B543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3913632"/>
            <a:ext cx="5833872" cy="749808"/>
          </a:xfrm>
          <a:prstGeom prst="roundRect">
            <a:avLst>
              <a:gd name="adj" fmla="val 7317"/>
            </a:avLst>
          </a:prstGeom>
          <a:solidFill>
            <a:srgbClr val="F2DED7"/>
          </a:solidFill>
          <a:ln w="19050">
            <a:solidFill>
              <a:srgbClr val="B543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050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E3B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algorithms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2976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engine · Merge engine  →  testable in isolation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828032"/>
            <a:ext cx="109728" cy="749808"/>
          </a:xfrm>
          <a:prstGeom prst="rect">
            <a:avLst/>
          </a:prstGeom>
          <a:solidFill>
            <a:srgbClr val="C2A2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4828032"/>
            <a:ext cx="5833872" cy="749808"/>
          </a:xfrm>
          <a:prstGeom prst="roundRect">
            <a:avLst>
              <a:gd name="adj" fmla="val 7317"/>
            </a:avLst>
          </a:prstGeom>
          <a:solidFill>
            <a:srgbClr val="EEE6D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91947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models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· Project · Document · Branch · Commit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5897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can change and routes can validate — but the diff and merge engines are pure functions, so I can test them without Flask, a database, or a browser.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20840" y="1691640"/>
            <a:ext cx="0" cy="4480560"/>
          </a:xfrm>
          <a:prstGeom prst="line">
            <a:avLst/>
          </a:prstGeom>
          <a:noFill/>
          <a:ln w="12700">
            <a:solidFill>
              <a:srgbClr val="DAD3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16276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0" y="1938528"/>
            <a:ext cx="2011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</a:t>
            </a:r>
            <a:endParaRPr lang="en-US" sz="8600" dirty="0"/>
          </a:p>
        </p:txBody>
      </p:sp>
      <p:sp>
        <p:nvSpPr>
          <p:cNvPr id="25" name="Text 23"/>
          <p:cNvSpPr/>
          <p:nvPr/>
        </p:nvSpPr>
        <p:spPr>
          <a:xfrm>
            <a:off x="864108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tests</a:t>
            </a:r>
            <a:pPr indent="0" marL="0">
              <a:buNone/>
            </a:pPr>
            <a:r>
              <a:rPr lang="en-US" sz="15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all green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flipV="1">
            <a:off x="8321040" y="3246120"/>
            <a:ext cx="2194560" cy="566928"/>
          </a:xfrm>
          <a:prstGeom prst="trapezoid">
            <a:avLst/>
          </a:prstGeom>
          <a:solidFill>
            <a:srgbClr val="184E4F"/>
          </a:solidFill>
          <a:ln/>
        </p:spPr>
      </p:sp>
      <p:sp>
        <p:nvSpPr>
          <p:cNvPr id="27" name="Text 25"/>
          <p:cNvSpPr/>
          <p:nvPr/>
        </p:nvSpPr>
        <p:spPr>
          <a:xfrm>
            <a:off x="8321040" y="3246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  </a:t>
            </a:r>
            <a:pPr algn="ctr" indent="0" marL="0">
              <a:buNone/>
            </a:pPr>
            <a:r>
              <a:rPr lang="en-US" sz="9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browser flows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 flipV="1">
            <a:off x="7726680" y="3922776"/>
            <a:ext cx="3383280" cy="566928"/>
          </a:xfrm>
          <a:prstGeom prst="trapezoid">
            <a:avLst/>
          </a:prstGeom>
          <a:solidFill>
            <a:srgbClr val="1F6F70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392277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  </a:t>
            </a:r>
            <a:pPr algn="ctr" indent="0" marL="0">
              <a:buNone/>
            </a:pPr>
            <a:r>
              <a:rPr lang="en-US" sz="9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API edge cases — deleted docs, huge pastes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flipV="1">
            <a:off x="7132320" y="4599432"/>
            <a:ext cx="4572000" cy="566928"/>
          </a:xfrm>
          <a:prstGeom prst="trapezoid">
            <a:avLst/>
          </a:prstGeom>
          <a:solidFill>
            <a:srgbClr val="3F9A8E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459943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  </a:t>
            </a:r>
            <a:pPr algn="ctr" indent="0" marL="0">
              <a:buNone/>
            </a:pPr>
            <a:r>
              <a:rPr lang="en-US" sz="950" dirty="0">
                <a:solidFill>
                  <a:srgbClr val="EAF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isolation · diff · merge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86600" y="53858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</a:t>
            </a:r>
            <a:pPr indent="0" marL="0">
              <a:buNone/>
            </a:pPr>
            <a:r>
              <a:rPr lang="en-US" sz="1150" dirty="0">
                <a:solidFill>
                  <a:srgbClr val="4A4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uses an isolated test database — tests never touch real data.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wired.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 (models.py)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1F6F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48840"/>
            <a:ext cx="4206240" cy="36576"/>
          </a:xfrm>
          <a:prstGeom prst="rect">
            <a:avLst/>
          </a:prstGeom>
          <a:solidFill>
            <a:srgbClr val="1F6F7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03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441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· password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─*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862072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1F6F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862072"/>
            <a:ext cx="4206240" cy="36576"/>
          </a:xfrm>
          <a:prstGeom prst="rect">
            <a:avLst/>
          </a:prstGeom>
          <a:solidFill>
            <a:srgbClr val="1F6F7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916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· owner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74920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─*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575304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1F6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575304"/>
            <a:ext cx="4206240" cy="36576"/>
          </a:xfrm>
          <a:prstGeom prst="rect">
            <a:avLst/>
          </a:prstGeom>
          <a:solidFill>
            <a:srgbClr val="1F6F7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86791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· 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3986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─*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2960" y="4288536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1F6F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288536"/>
            <a:ext cx="4206240" cy="36576"/>
          </a:xfrm>
          <a:prstGeom prst="rect">
            <a:avLst/>
          </a:prstGeom>
          <a:solidFill>
            <a:srgbClr val="1F6F70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343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58114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is_main · baseline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74920" y="4700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─*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5001768"/>
            <a:ext cx="42062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1F6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5001768"/>
            <a:ext cx="4206240" cy="36576"/>
          </a:xfrm>
          <a:prstGeom prst="rect">
            <a:avLst/>
          </a:prstGeom>
          <a:solidFill>
            <a:srgbClr val="1F6F70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5056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52943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6A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 · message · 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691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edit  (sequence)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858000" y="2258568"/>
            <a:ext cx="347472" cy="347472"/>
          </a:xfrm>
          <a:prstGeom prst="oval">
            <a:avLst/>
          </a:prstGeom>
          <a:solidFill>
            <a:srgbClr val="184E4F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60920" y="21945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 </a:t>
            </a:r>
            <a:pPr indent="0" marL="0">
              <a:buNone/>
            </a:pPr>
            <a:r>
              <a:rPr lang="en-US" sz="1250" dirty="0">
                <a:solidFill>
                  <a:srgbClr val="5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an edit in the branch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031736" y="2606040"/>
            <a:ext cx="0" cy="256032"/>
          </a:xfrm>
          <a:prstGeom prst="line">
            <a:avLst/>
          </a:prstGeom>
          <a:noFill/>
          <a:ln w="19050">
            <a:solidFill>
              <a:srgbClr val="DAD3C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2971800"/>
            <a:ext cx="347472" cy="347472"/>
          </a:xfrm>
          <a:prstGeom prst="oval">
            <a:avLst/>
          </a:prstGeom>
          <a:solidFill>
            <a:srgbClr val="184E4F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60920" y="29077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(TipTap)  </a:t>
            </a:r>
            <a:pPr indent="0" marL="0">
              <a:buNone/>
            </a:pPr>
            <a:r>
              <a:rPr lang="en-US" sz="1250" dirty="0">
                <a:solidFill>
                  <a:srgbClr val="5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content to the API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031736" y="3319272"/>
            <a:ext cx="0" cy="256032"/>
          </a:xfrm>
          <a:prstGeom prst="line">
            <a:avLst/>
          </a:prstGeom>
          <a:noFill/>
          <a:ln w="19050">
            <a:solidFill>
              <a:srgbClr val="DAD3C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58000" y="3685032"/>
            <a:ext cx="347472" cy="347472"/>
          </a:xfrm>
          <a:prstGeom prst="oval">
            <a:avLst/>
          </a:prstGeom>
          <a:solidFill>
            <a:srgbClr val="184E4F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0" y="3685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60920" y="36210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route  </a:t>
            </a:r>
            <a:pPr indent="0" marL="0">
              <a:buNone/>
            </a:pPr>
            <a:r>
              <a:rPr lang="en-US" sz="1250" dirty="0">
                <a:solidFill>
                  <a:srgbClr val="5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the diff engine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031736" y="4032504"/>
            <a:ext cx="0" cy="256032"/>
          </a:xfrm>
          <a:prstGeom prst="line">
            <a:avLst/>
          </a:prstGeom>
          <a:noFill/>
          <a:ln w="19050">
            <a:solidFill>
              <a:srgbClr val="DAD3C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4398264"/>
            <a:ext cx="347472" cy="347472"/>
          </a:xfrm>
          <a:prstGeom prst="oval">
            <a:avLst/>
          </a:prstGeom>
          <a:solidFill>
            <a:srgbClr val="B5432E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4398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60920" y="43342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engine  </a:t>
            </a:r>
            <a:pPr indent="0" marL="0">
              <a:buNone/>
            </a:pPr>
            <a:r>
              <a:rPr lang="en-US" sz="1250" dirty="0">
                <a:solidFill>
                  <a:srgbClr val="5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the commit's delta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031736" y="4745736"/>
            <a:ext cx="0" cy="256032"/>
          </a:xfrm>
          <a:prstGeom prst="line">
            <a:avLst/>
          </a:prstGeom>
          <a:noFill/>
          <a:ln w="19050">
            <a:solidFill>
              <a:srgbClr val="DAD3C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0" y="5111496"/>
            <a:ext cx="347472" cy="347472"/>
          </a:xfrm>
          <a:prstGeom prst="oval">
            <a:avLst/>
          </a:prstGeom>
          <a:solidFill>
            <a:srgbClr val="184E4F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0" y="5111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360920" y="50474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 </a:t>
            </a:r>
            <a:pPr indent="0" marL="0">
              <a:buNone/>
            </a:pPr>
            <a:r>
              <a:rPr lang="en-US" sz="1250" dirty="0">
                <a:solidFill>
                  <a:srgbClr val="5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text = replayed commits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diagrams, fully consistent with the code — the same models and call path you saw in the demo.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4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/ WHAT WENT WRONG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bugs lived at the seams.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56032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happened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differently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E4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54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 assumptions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logic compared branch to Main, not base / main / branch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Conflicts could be hidden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 the algorithm around invariants first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54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Rich-text export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TipTap stores structured JSON; older paths expected plain 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DOCX wiring needed a separate generator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Decide serialization format before UI polish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54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isolation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document state felt simple until sibling branches diverged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Tests caught mutation risk late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lifecycle tests before adding features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B543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Architecture diagrams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 moved faster than documentation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rubric item stayed unfinished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A2A2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grading artifacts like product work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8000"/>
            </a:avLst>
          </a:prstGeom>
          <a:solidFill>
            <a:srgbClr val="DEEAE7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6F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Takeaway:  </a:t>
            </a:r>
            <a:pPr indent="0" marL="0">
              <a:buNone/>
            </a:pPr>
            <a:r>
              <a:rPr lang="en-US" sz="1350" dirty="0">
                <a:solidFill>
                  <a:srgbClr val="2A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 weren't optional glue — they were the only way to prove the whole workflow.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2026-06-05T15:19:33Z</dcterms:created>
  <dcterms:modified xsi:type="dcterms:W3CDTF">2026-06-05T15:19:33Z</dcterms:modified>
</cp:coreProperties>
</file>