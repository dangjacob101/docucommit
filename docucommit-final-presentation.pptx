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46613f48334ef2" /><Relationship Type="http://schemas.openxmlformats.org/officeDocument/2006/relationships/extended-properties" Target="/docProps/app.xml" Id="R44ea3517099a4068" /><Relationship Type="http://schemas.openxmlformats.org/officeDocument/2006/relationships/officeDocument" Target="/ppt/presentation.xml" Id="R326b4760b5e44d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ee9ad03b2a4859"/>
  </p:sldMasterIdLst>
  <p:notesMasterIdLst>
    <p:notesMasterId xmlns:r="http://schemas.openxmlformats.org/officeDocument/2006/relationships" r:id="R4e7b17ea8bcf4844"/>
  </p:notesMasterIdLst>
  <p:sldIdLst>
    <p:sldId xmlns:r="http://schemas.openxmlformats.org/officeDocument/2006/relationships" id="256" r:id="R95e385336dae4782"/>
    <p:sldId xmlns:r="http://schemas.openxmlformats.org/officeDocument/2006/relationships" id="257" r:id="R0e536e5fc9234720"/>
    <p:sldId xmlns:r="http://schemas.openxmlformats.org/officeDocument/2006/relationships" id="258" r:id="R52289b051efe4ba1"/>
    <p:sldId xmlns:r="http://schemas.openxmlformats.org/officeDocument/2006/relationships" id="259" r:id="R5f1f9fa523834ad4"/>
    <p:sldId xmlns:r="http://schemas.openxmlformats.org/officeDocument/2006/relationships" id="260" r:id="R9f6edaf8eec948ce"/>
    <p:sldId xmlns:r="http://schemas.openxmlformats.org/officeDocument/2006/relationships" id="261" r:id="Rc1c30aee8f934bb3"/>
    <p:sldId xmlns:r="http://schemas.openxmlformats.org/officeDocument/2006/relationships" id="262" r:id="Rc02bd9bd7f0148a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1b091e91814385" /><Relationship Type="http://schemas.openxmlformats.org/officeDocument/2006/relationships/slideMaster" Target="/ppt/slideMasters/slideMaster1.xml" Id="R1bee9ad03b2a4859" /><Relationship Type="http://schemas.openxmlformats.org/officeDocument/2006/relationships/notesMaster" Target="/ppt/notesMasters/notesMaster1.xml" Id="R4e7b17ea8bcf4844" /><Relationship Type="http://schemas.openxmlformats.org/officeDocument/2006/relationships/presProps" Target="/ppt/presProps.xml" Id="Re9489d34781846e8" /><Relationship Type="http://schemas.openxmlformats.org/officeDocument/2006/relationships/viewProps" Target="/ppt/viewProps.xml" Id="R11ca79eb228b447d" /><Relationship Type="http://schemas.openxmlformats.org/officeDocument/2006/relationships/tableStyles" Target="/ppt/tableStyles.xml" Id="Rf993f41b589c4e52" /><Relationship Type="http://schemas.openxmlformats.org/officeDocument/2006/relationships/slide" Target="/ppt/slides/slide1.xml" Id="R95e385336dae4782" /><Relationship Type="http://schemas.openxmlformats.org/officeDocument/2006/relationships/slide" Target="/ppt/slides/slide2.xml" Id="R0e536e5fc9234720" /><Relationship Type="http://schemas.openxmlformats.org/officeDocument/2006/relationships/slide" Target="/ppt/slides/slide3.xml" Id="R52289b051efe4ba1" /><Relationship Type="http://schemas.openxmlformats.org/officeDocument/2006/relationships/slide" Target="/ppt/slides/slide4.xml" Id="R5f1f9fa523834ad4" /><Relationship Type="http://schemas.openxmlformats.org/officeDocument/2006/relationships/slide" Target="/ppt/slides/slide5.xml" Id="R9f6edaf8eec948ce" /><Relationship Type="http://schemas.openxmlformats.org/officeDocument/2006/relationships/slide" Target="/ppt/slides/slide6.xml" Id="Rc1c30aee8f934bb3" /><Relationship Type="http://schemas.openxmlformats.org/officeDocument/2006/relationships/slide" Target="/ppt/slides/slide7.xml" Id="Rc02bd9bd7f0148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6d1acc816f47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2ebbfc28f146f2" /><Relationship Type="http://schemas.openxmlformats.org/officeDocument/2006/relationships/notesMaster" Target="/ppt/notesMasters/notesMaster1.xml" Id="Rb60344a192dc4c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b33255df9c48bf" /><Relationship Type="http://schemas.openxmlformats.org/officeDocument/2006/relationships/notesMaster" Target="/ppt/notesMasters/notesMaster1.xml" Id="Re4937da2558c47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f7d7ae4e5947b1" /><Relationship Type="http://schemas.openxmlformats.org/officeDocument/2006/relationships/notesMaster" Target="/ppt/notesMasters/notesMaster1.xml" Id="Rf4e38cefc3ea43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1b3cecee994a13" /><Relationship Type="http://schemas.openxmlformats.org/officeDocument/2006/relationships/notesMaster" Target="/ppt/notesMasters/notesMaster1.xml" Id="R529a063ad33240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5b534932ec4a2f" /><Relationship Type="http://schemas.openxmlformats.org/officeDocument/2006/relationships/notesMaster" Target="/ppt/notesMasters/notesMaster1.xml" Id="R3cba1758412d41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8972490367468b" /><Relationship Type="http://schemas.openxmlformats.org/officeDocument/2006/relationships/notesMaster" Target="/ppt/notesMasters/notesMaster1.xml" Id="R10b6f49287604c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90252c43294836" /><Relationship Type="http://schemas.openxmlformats.org/officeDocument/2006/relationships/notesMaster" Target="/ppt/notesMasters/notesMaster1.xml" Id="R0e1a18c3848c40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4d30b6399f4a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564cb7d592454a" /><Relationship Type="http://schemas.openxmlformats.org/officeDocument/2006/relationships/slideLayout" Target="/ppt/slideLayouts/slideLayout1.xml" Id="R73a37174e14f4c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a37174e14f4c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d3861e325417f" /><Relationship Type="http://schemas.openxmlformats.org/officeDocument/2006/relationships/notesSlide" Target="/ppt/notesSlides/notesSlide1.xml" Id="Rc89486d3439144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dae9ab52f413a" /><Relationship Type="http://schemas.openxmlformats.org/officeDocument/2006/relationships/notesSlide" Target="/ppt/notesSlides/notesSlide2.xml" Id="Rfe34fe9db3f043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8d7b5321447f9" /><Relationship Type="http://schemas.openxmlformats.org/officeDocument/2006/relationships/notesSlide" Target="/ppt/notesSlides/notesSlide3.xml" Id="R8252804cffea4b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2d00560ad4435" /><Relationship Type="http://schemas.openxmlformats.org/officeDocument/2006/relationships/notesSlide" Target="/ppt/notesSlides/notesSlide4.xml" Id="R3c8863eeef714d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f4b48ae9a4bd0" /><Relationship Type="http://schemas.openxmlformats.org/officeDocument/2006/relationships/notesSlide" Target="/ppt/notesSlides/notesSlide5.xml" Id="R15c6f416535247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692d12e0c4cdc" /><Relationship Type="http://schemas.openxmlformats.org/officeDocument/2006/relationships/notesSlide" Target="/ppt/notesSlides/notesSlide6.xml" Id="Rc067dca2b5334e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e7dab921c4b34" /><Relationship Type="http://schemas.openxmlformats.org/officeDocument/2006/relationships/notesSlide" Target="/ppt/notesSlides/notesSlide7.xml" Id="R209ff5e2f00248e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40B1C0A5-1DA5-4B14-987C-1E98065D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8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7B88EC7A-FAEF-463A-85B7-B27A49AA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3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7C0A4A80-289F-4893-B1F9-D64A450C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CS35L FINAL PROJECT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23A176-A471-4D35-AF9E-C4B80B4C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76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DocuCommit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65A92-6446-4CE7-A627-3D34F5D4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E7E0D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E7E0D2"/>
                </a:solidFill>
                <a:latin typeface="Aptos"/>
                <a:ea typeface="Aptos"/>
                <a:cs typeface="Aptos"/>
              </a:rPr>
              <a:t>Git-style version control for legal documents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793F8-528B-40D7-AFF6-94951CB2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1E4C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1E4C8"/>
                </a:solidFill>
                <a:latin typeface="Aptos"/>
                <a:ea typeface="Aptos"/>
                <a:cs typeface="Aptos"/>
              </a:rPr>
              <a:t>TA: [add name]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4FCE49-1BBA-42D4-9269-33ADE609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8D1C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1C4"/>
                </a:solidFill>
                <a:latin typeface="Aptos"/>
                <a:ea typeface="Aptos"/>
                <a:cs typeface="Aptos"/>
              </a:rPr>
              <a:t>Team: Frank Kronewitter, Jacob Dang, Robert Flores, Sammy Adham, Elliott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6BD06-C18D-4956-9AD2-7EF04551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0477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2850" b="1">
                <a:solidFill>
                  <a:srgbClr val="F1E4C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1E4C8"/>
                </a:solidFill>
                <a:latin typeface="Aptos Display"/>
                <a:ea typeface="Aptos Display"/>
                <a:cs typeface="Aptos Display"/>
              </a:rPr>
              <a:t>5:45 target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2F15EF-CD2E-4747-87A7-13FA12A0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8115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E7E0D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7E0D2"/>
                </a:solidFill>
                <a:latin typeface="Aptos"/>
                <a:ea typeface="Aptos"/>
                <a:cs typeface="Aptos"/>
              </a:rPr>
              <a:t>Three feature demos, then construction lessons.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FE97F6-5EAF-43E4-AF00-10CAE8B2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479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C3D"/>
          </a:solidFill>
          <a:ln xmlns:a="http://schemas.openxmlformats.org/drawingml/2006/main" w="9525">
            <a:solidFill>
              <a:srgbClr val="DCEC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B6D91-09F2-4065-8E80-76582F94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95575"/>
            <a:ext cx="2628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CEC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CECE8"/>
                </a:solidFill>
                <a:latin typeface="Aptos"/>
                <a:ea typeface="Aptos"/>
                <a:cs typeface="Aptos"/>
              </a:rPr>
              <a:t>1  Branch + commits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F9B99-E8F2-49CE-B1BB-44416FEF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2D2B"/>
          </a:solidFill>
          <a:ln xmlns:a="http://schemas.openxmlformats.org/drawingml/2006/main" w="9525">
            <a:solidFill>
              <a:srgbClr val="F4DC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79FBAC-6AD0-4AD9-9975-E1D2494C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90875"/>
            <a:ext cx="2628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4DCD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DCD6"/>
                </a:solidFill>
                <a:latin typeface="Aptos"/>
                <a:ea typeface="Aptos"/>
                <a:cs typeface="Aptos"/>
              </a:rPr>
              <a:t>2  Visual diff engine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ED80B0-2867-4729-BB4C-E32309DB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385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92D"/>
          </a:solidFill>
          <a:ln xmlns:a="http://schemas.openxmlformats.org/drawingml/2006/main" w="9525">
            <a:solidFill>
              <a:srgbClr val="DDEB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486759-81DB-4B83-BC90-B383DC05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86175"/>
            <a:ext cx="2628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DEBD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DEBDF"/>
                </a:solidFill>
                <a:latin typeface="Aptos"/>
                <a:ea typeface="Aptos"/>
                <a:cs typeface="Aptos"/>
              </a:rPr>
              <a:t>3  Safe merge + export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EFCE43-ED55-4505-81C7-39248773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From "Contract_Final_v10" to an auditable document history.</a:t>
            </a:r>
          </a:p>
        </p:txBody>
      </p:sp>
      <p:sp>
        <p:nvSpPr>
          <p:cNvPr id="1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1D037CA-83E3-46BA-9017-9FF4B60C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FC9FDE6C-3C75-4966-AC7E-3B842955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38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9" name="page-marker">
            <a:extLst xmlns:a="http://schemas.openxmlformats.org/drawingml/2006/main">
              <a:ext uri="{FF2B5EF4-FFF2-40B4-BE49-F238E27FC236}">
                <a16:creationId xmlns:a16="http://schemas.microsoft.com/office/drawing/2014/main" id="{A18E64A3-FCAF-40CB-9B7D-FDBB2842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78018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DA3CE240-AE5E-4D7D-8A27-D64C31F5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C802536A-5CFC-4E08-A738-AC775F1C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5E6EF11B-973C-4521-B02D-501376C3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DEMO MAP</a:t>
            </a:r>
          </a:p>
        </p:txBody>
      </p:sp>
      <p:sp>
        <p:nvSpPr>
          <p:cNvPr id="4" name="slide-claim">
            <a:extLst xmlns:a="http://schemas.openxmlformats.org/drawingml/2006/main">
              <a:ext uri="{FF2B5EF4-FFF2-40B4-BE49-F238E27FC236}">
                <a16:creationId xmlns:a16="http://schemas.microsoft.com/office/drawing/2014/main" id="{3A08A876-968C-40B7-9C07-95A54B78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191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222831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222831"/>
                </a:solidFill>
                <a:latin typeface="Aptos Display"/>
                <a:ea typeface="Aptos Display"/>
                <a:cs typeface="Aptos Display"/>
              </a:rPr>
              <a:t>The demo follows one contract from draft to merge.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89C8AC-483D-45DC-9ED7-025677E9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38500"/>
            <a:ext cx="7524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794F6-A6C8-4EED-9820-6805FDA2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4288">
            <a:solidFill>
              <a:srgbClr val="3B5B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BB19F-0915-475E-AFAC-B0E194B0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1162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22831"/>
                </a:solidFill>
                <a:latin typeface="Aptos"/>
                <a:ea typeface="Aptos"/>
                <a:cs typeface="Aptos"/>
              </a:rPr>
              <a:t>Create contract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693B73-5318-4603-AD8A-642A365D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86150"/>
            <a:ext cx="342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B5B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B5B8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B292B7-1866-4D11-B916-C10EAF45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7175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E8"/>
          </a:solidFill>
          <a:ln xmlns:a="http://schemas.openxmlformats.org/drawingml/2006/main" w="14288">
            <a:solidFill>
              <a:srgbClr val="146C6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3F8C5B-AECB-474B-B8A3-DF3C5CC6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67000"/>
            <a:ext cx="1162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22831"/>
                </a:solidFill>
                <a:latin typeface="Aptos"/>
                <a:ea typeface="Aptos"/>
                <a:cs typeface="Aptos"/>
              </a:rPr>
              <a:t>Branch draft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AB973-CB4F-43FD-8DAE-11301C3F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86150"/>
            <a:ext cx="342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46C6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6C6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BB6C14-4316-4564-ACF5-D82AE7EE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7175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4C8"/>
          </a:solidFill>
          <a:ln xmlns:a="http://schemas.openxmlformats.org/drawingml/2006/main" w="14288">
            <a:solidFill>
              <a:srgbClr val="B7832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65AAD8-2CEC-4004-A773-10A8FDA0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67000"/>
            <a:ext cx="1162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22831"/>
                </a:solidFill>
                <a:latin typeface="Aptos"/>
                <a:ea typeface="Aptos"/>
                <a:cs typeface="Aptos"/>
              </a:rPr>
              <a:t>Commit changes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909BC0-842E-4A6E-B605-DBA7E8F1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86150"/>
            <a:ext cx="342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B783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7832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3DC208-8FB1-49C6-910A-636014DA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57175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CD6"/>
          </a:solidFill>
          <a:ln xmlns:a="http://schemas.openxmlformats.org/drawingml/2006/main" w="14288">
            <a:solidFill>
              <a:srgbClr val="CC554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6B19BF-7725-4FF4-8C96-CF603E69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67000"/>
            <a:ext cx="1162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22831"/>
                </a:solidFill>
                <a:latin typeface="Aptos"/>
                <a:ea typeface="Aptos"/>
                <a:cs typeface="Aptos"/>
              </a:rPr>
              <a:t>Review diff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C52F04-933C-492A-9A26-3CED4490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86150"/>
            <a:ext cx="342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CC554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C554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D3BF16-9529-44E0-8E05-1432A644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7175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F"/>
          </a:solidFill>
          <a:ln xmlns:a="http://schemas.openxmlformats.org/drawingml/2006/main" w="14288">
            <a:solidFill>
              <a:srgbClr val="2E7D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1D5C4C-3110-4936-9F1A-0C9B3817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67000"/>
            <a:ext cx="1162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22831"/>
                </a:solidFill>
                <a:latin typeface="Aptos"/>
                <a:ea typeface="Aptos"/>
                <a:cs typeface="Aptos"/>
              </a:rPr>
              <a:t>Merge / export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E9A4B7-0DE2-4950-B785-5DBC2D00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86150"/>
            <a:ext cx="342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E7D4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E7D4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6EE551-1989-488F-949A-6E1E0BB4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22831"/>
                </a:solidFill>
                <a:latin typeface="Aptos"/>
                <a:ea typeface="Aptos"/>
                <a:cs typeface="Aptos"/>
              </a:rPr>
              <a:t>Demo features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6C60E4-BE2F-4DE4-A340-E5794A65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324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E8"/>
          </a:solidFill>
          <a:ln xmlns:a="http://schemas.openxmlformats.org/drawingml/2006/main" w="9525">
            <a:solidFill>
              <a:srgbClr val="146C6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0C266C-D92E-42EC-B758-2F8C5356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46C6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6C6C"/>
                </a:solidFill>
                <a:latin typeface="Aptos"/>
                <a:ea typeface="Aptos"/>
                <a:cs typeface="Aptos"/>
              </a:rPr>
              <a:t>Branch + commit history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57F234-D19F-4685-992E-5FDDC0D4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9550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CD6"/>
          </a:solidFill>
          <a:ln xmlns:a="http://schemas.openxmlformats.org/drawingml/2006/main" w="9525">
            <a:solidFill>
              <a:srgbClr val="CC554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1A911A-1AA4-4F89-BFFD-B4CC6D21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431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C554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C5548"/>
                </a:solidFill>
                <a:latin typeface="Aptos"/>
                <a:ea typeface="Aptos"/>
                <a:cs typeface="Aptos"/>
              </a:rPr>
              <a:t>Custom visual diff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4D330D-FC02-4EB0-9F99-6C24FC7E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09550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F"/>
          </a:solidFill>
          <a:ln xmlns:a="http://schemas.openxmlformats.org/drawingml/2006/main" w="9525">
            <a:solidFill>
              <a:srgbClr val="2E7D4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F9623E-012F-43A6-807E-D0F83AA3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1431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E7D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7D4F"/>
                </a:solidFill>
                <a:latin typeface="Aptos"/>
                <a:ea typeface="Aptos"/>
                <a:cs typeface="Aptos"/>
              </a:rPr>
              <a:t>Safe merge + DOCX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117779-1A12-43F0-8CE5-1CF9339A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5811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2831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222831"/>
                </a:solidFill>
                <a:latin typeface="Aptos Display"/>
                <a:ea typeface="Aptos Display"/>
                <a:cs typeface="Aptos Display"/>
              </a:rPr>
              <a:t>Why this path matters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6C4DF7-3862-4B35-8F9C-8976FD10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24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E5D545-F4A6-42D3-AE58-DC96B42F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47875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22831"/>
                </a:solidFill>
                <a:latin typeface="Aptos"/>
                <a:ea typeface="Aptos"/>
                <a:cs typeface="Aptos"/>
              </a:rPr>
              <a:t>Full workflow, not isolated buttons.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BFA713-6C1B-421F-ACFF-B2A5897B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62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55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63A7D1-FBF7-4952-AA53-606B59CC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86075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22831"/>
                </a:solidFill>
                <a:latin typeface="Aptos"/>
                <a:ea typeface="Aptos"/>
                <a:cs typeface="Aptos"/>
              </a:rPr>
              <a:t>Each feature maps to a construction problem.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8F721D-2093-44DA-A898-E8E174FD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00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970CEB-879E-4D8A-AD2C-85E03E90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24275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22831"/>
                </a:solidFill>
                <a:latin typeface="Aptos"/>
                <a:ea typeface="Aptos"/>
                <a:cs typeface="Aptos"/>
              </a:rPr>
              <a:t>Lessons come from real integration tradeoffs.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12C50E-8FFD-4FE2-9867-960DE32D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2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22831"/>
                </a:solidFill>
                <a:latin typeface="Aptos"/>
                <a:ea typeface="Aptos"/>
                <a:cs typeface="Aptos"/>
              </a:rPr>
              <a:t>Timing target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C0582E-A6E1-4AA1-8917-6A692DC3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962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712662-97A7-4E23-91E0-4B844BDE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15716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B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6A64A5-4572-49D9-BB97-96F5393B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5448300"/>
            <a:ext cx="4714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BEB2E2-3BBC-492F-86ED-00A7C252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48300"/>
            <a:ext cx="2857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3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923B8C-AEC3-43C5-8149-56E8572D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0:25 setup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E1BB40-0D45-4F9B-ABA2-65141E88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197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3:00 feature demo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BF775A-16C7-4DC1-AA54-5B085228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6197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1:50 lessons + contributions</a:t>
            </a:r>
          </a:p>
        </p:txBody>
      </p:sp>
      <p:sp>
        <p:nvSpPr>
          <p:cNvPr id="4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060C9BE-F2E4-45EA-A45E-82FC64ED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E915831D-2405-4BFE-8BF0-0CC9363A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38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4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08C4A4A8-542D-4880-9E90-DBFE2288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8510751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9A9319B7-F384-4290-96C5-FC6E68D2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69FFF605-6EC9-4D0C-8F30-EA182B4D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E5CD22AB-402C-48FF-A107-ECC45C5C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FEATURE 1 / BRANCH + COMMIT HISTORY</a:t>
            </a:r>
          </a:p>
        </p:txBody>
      </p:sp>
      <p:sp>
        <p:nvSpPr>
          <p:cNvPr id="4" name="slide-claim">
            <a:extLst xmlns:a="http://schemas.openxmlformats.org/drawingml/2006/main">
              <a:ext uri="{FF2B5EF4-FFF2-40B4-BE49-F238E27FC236}">
                <a16:creationId xmlns:a16="http://schemas.microsoft.com/office/drawing/2014/main" id="{F8014292-075C-48FA-9A5C-05CDCCC1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191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222831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222831"/>
                </a:solidFill>
                <a:latin typeface="Aptos Display"/>
                <a:ea typeface="Aptos Display"/>
                <a:cs typeface="Aptos Display"/>
              </a:rPr>
              <a:t>Branching lets legal edits happen without mutating Main.</a:t>
            </a:r>
          </a:p>
        </p:txBody>
      </p:sp>
      <p:sp>
        <p:nvSpPr>
          <p:cNvPr id="5" name="dag-panel">
            <a:extLst xmlns:a="http://schemas.openxmlformats.org/drawingml/2006/main">
              <a:ext uri="{FF2B5EF4-FFF2-40B4-BE49-F238E27FC236}">
                <a16:creationId xmlns:a16="http://schemas.microsoft.com/office/drawing/2014/main" id="{E5858129-8E16-4B3F-BD25-94FC67A6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6572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B716EB-2CA3-41E8-AFDD-E4C206C0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383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22831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222831"/>
                </a:solidFill>
                <a:latin typeface="Aptos Display"/>
                <a:ea typeface="Aptos Display"/>
                <a:cs typeface="Aptos Display"/>
              </a:rPr>
              <a:t>Document history as a small DAG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5BEF8-8837-447F-AD01-85CA4FBE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38500"/>
            <a:ext cx="409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53C18-24E6-4161-9601-93328C5B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1485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E8"/>
          </a:solidFill>
          <a:ln xmlns:a="http://schemas.openxmlformats.org/drawingml/2006/main" w="14288">
            <a:solidFill>
              <a:srgbClr val="146C6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7E6DBF-EB0F-4B0D-BF7B-76AEDD54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14650"/>
            <a:ext cx="1219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22831"/>
                </a:solidFill>
                <a:latin typeface="Aptos"/>
                <a:ea typeface="Aptos"/>
                <a:cs typeface="Aptos"/>
              </a:rPr>
              <a:t>Main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22831"/>
                </a:solidFill>
                <a:latin typeface="Aptos"/>
                <a:ea typeface="Aptos"/>
                <a:cs typeface="Aptos"/>
              </a:rPr>
              <a:t>initial contract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3D42B7-B3AF-4E15-B120-EA897A67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19400"/>
            <a:ext cx="1657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E8"/>
          </a:solidFill>
          <a:ln xmlns:a="http://schemas.openxmlformats.org/drawingml/2006/main" w="14288">
            <a:solidFill>
              <a:srgbClr val="146C6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F583B8-F3C3-48C8-A5E4-9DD9DAD7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14650"/>
            <a:ext cx="1390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22831"/>
                </a:solidFill>
                <a:latin typeface="Aptos"/>
                <a:ea typeface="Aptos"/>
                <a:cs typeface="Aptos"/>
              </a:rPr>
              <a:t>Main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22831"/>
                </a:solidFill>
                <a:latin typeface="Aptos"/>
                <a:ea typeface="Aptos"/>
                <a:cs typeface="Aptos"/>
              </a:rPr>
              <a:t>payment terms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8AB027-900E-46E0-B552-4EF54E8B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38500"/>
            <a:ext cx="38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55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1C62A3-CFC5-4D6E-BF8D-87390247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36245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55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7F3F18-BA82-40F8-8212-E335491E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00500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CD6"/>
          </a:solidFill>
          <a:ln xmlns:a="http://schemas.openxmlformats.org/drawingml/2006/main" w="14288">
            <a:solidFill>
              <a:srgbClr val="CC554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3D5881-FD4C-4BBF-A746-9387B180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095750"/>
            <a:ext cx="1543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22831"/>
                </a:solidFill>
                <a:latin typeface="Aptos"/>
                <a:ea typeface="Aptos"/>
                <a:cs typeface="Aptos"/>
              </a:rPr>
              <a:t>Liability branch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22831"/>
                </a:solidFill>
                <a:latin typeface="Aptos"/>
                <a:ea typeface="Aptos"/>
                <a:cs typeface="Aptos"/>
              </a:rPr>
              <a:t>experiment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19987D-8B3F-4399-9D90-39D8BB90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00500"/>
            <a:ext cx="161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CD6"/>
          </a:solidFill>
          <a:ln xmlns:a="http://schemas.openxmlformats.org/drawingml/2006/main" w="14288">
            <a:solidFill>
              <a:srgbClr val="CC554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C4E834-6AD9-46F5-B2FA-C67DD6EC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095750"/>
            <a:ext cx="1352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22831"/>
                </a:solidFill>
                <a:latin typeface="Aptos"/>
                <a:ea typeface="Aptos"/>
                <a:cs typeface="Aptos"/>
              </a:rPr>
              <a:t>Commit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22831"/>
                </a:solidFill>
                <a:latin typeface="Aptos"/>
                <a:ea typeface="Aptos"/>
                <a:cs typeface="Aptos"/>
              </a:rPr>
              <a:t>"limit indemnity"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9006A0-8B6E-4125-A6D2-E4128EBB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9700"/>
            <a:ext cx="5572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The branch stores its own baseline and current content, so reviewer experiments do not rewrite the official document.</a:t>
            </a:r>
          </a:p>
        </p:txBody>
      </p:sp>
      <p:sp>
        <p:nvSpPr>
          <p:cNvPr id="19" name="sidebar-mock">
            <a:extLst xmlns:a="http://schemas.openxmlformats.org/drawingml/2006/main">
              <a:ext uri="{FF2B5EF4-FFF2-40B4-BE49-F238E27FC236}">
                <a16:creationId xmlns:a16="http://schemas.microsoft.com/office/drawing/2014/main" id="{2186D549-39AF-43E2-82D4-63A429F6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34766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138"/>
          </a:solidFill>
          <a:ln xmlns:a="http://schemas.openxmlformats.org/drawingml/2006/main" w="9525">
            <a:solidFill>
              <a:srgbClr val="2B31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8495FB-4037-460C-84DD-CBB47F68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383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DE6F2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DE6F2"/>
                </a:solidFill>
                <a:latin typeface="Aptos Mono"/>
                <a:ea typeface="Aptos Mono"/>
                <a:cs typeface="Aptos Mono"/>
              </a:rPr>
              <a:t>Commit history sidebar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0398D6-C013-465A-A69C-18A4CDF8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336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14A"/>
          </a:solidFill>
          <a:ln xmlns:a="http://schemas.openxmlformats.org/drawingml/2006/main" w="9525">
            <a:solidFill>
              <a:srgbClr val="4C566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3C83D9-A6BF-4124-B43A-3E2C6C36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28900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CECE8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CECE8"/>
                </a:solidFill>
                <a:latin typeface="Aptos Mono"/>
                <a:ea typeface="Aptos Mono"/>
                <a:cs typeface="Aptos Mono"/>
              </a:rPr>
              <a:t>Main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7485EC-48FD-435F-BCF3-3758FA57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28900"/>
            <a:ext cx="177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DF8"/>
                </a:solidFill>
                <a:latin typeface="Aptos"/>
                <a:ea typeface="Aptos"/>
                <a:cs typeface="Aptos"/>
              </a:rPr>
              <a:t>Initial legal draft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A42760-67F3-4A38-9234-C141CE74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194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AAB4B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AB4BE"/>
                </a:solidFill>
                <a:latin typeface="Aptos"/>
                <a:ea typeface="Aptos"/>
                <a:cs typeface="Aptos"/>
              </a:rPr>
              <a:t>timestamp + message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FAF25C-BB4C-4748-BD44-1FC0E839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194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14A"/>
          </a:solidFill>
          <a:ln xmlns:a="http://schemas.openxmlformats.org/drawingml/2006/main" w="9525">
            <a:solidFill>
              <a:srgbClr val="4C566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6E09BF-B64E-4D58-904C-7ED152A0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14700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4DCD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4DCD6"/>
                </a:solidFill>
                <a:latin typeface="Aptos Mono"/>
                <a:ea typeface="Aptos Mono"/>
                <a:cs typeface="Aptos Mono"/>
              </a:rPr>
              <a:t>Branch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10482F-AABA-4280-966B-3A555907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14700"/>
            <a:ext cx="177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DF8"/>
                </a:solidFill>
                <a:latin typeface="Aptos"/>
                <a:ea typeface="Aptos"/>
                <a:cs typeface="Aptos"/>
              </a:rPr>
              <a:t>Add liability carveout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DC3BCB-DBB0-4214-902B-FE5501E9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052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AAB4B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AB4BE"/>
                </a:solidFill>
                <a:latin typeface="Aptos"/>
                <a:ea typeface="Aptos"/>
                <a:cs typeface="Aptos"/>
              </a:rPr>
              <a:t>timestamp + message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045AC6-926E-4CA4-88FA-B07FEFF3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052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14A"/>
          </a:solidFill>
          <a:ln xmlns:a="http://schemas.openxmlformats.org/drawingml/2006/main" w="9525">
            <a:solidFill>
              <a:srgbClr val="4C566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B34DFA-4B5F-4918-930B-7DFED7EB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00500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1E4C8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1E4C8"/>
                </a:solidFill>
                <a:latin typeface="Aptos Mono"/>
                <a:ea typeface="Aptos Mono"/>
                <a:cs typeface="Aptos Mono"/>
              </a:rPr>
              <a:t>Branch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F8AA23-8436-4E84-AA69-BB0D8477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0"/>
            <a:ext cx="177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DF8"/>
                </a:solidFill>
                <a:latin typeface="Aptos"/>
                <a:ea typeface="Aptos"/>
                <a:cs typeface="Aptos"/>
              </a:rPr>
              <a:t>Clarify payment window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01118D-3D5A-4698-9B70-A2D33D85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910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AAB4B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AB4BE"/>
                </a:solidFill>
                <a:latin typeface="Aptos"/>
                <a:ea typeface="Aptos"/>
                <a:cs typeface="Aptos"/>
              </a:rPr>
              <a:t>timestamp + message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57DDAE-AA6A-4BA6-9E15-03278ACB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910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14A"/>
          </a:solidFill>
          <a:ln xmlns:a="http://schemas.openxmlformats.org/drawingml/2006/main" w="9525">
            <a:solidFill>
              <a:srgbClr val="4C566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A87636-A390-4F29-A49F-DEB253E3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86300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DEBD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DEBDF"/>
                </a:solidFill>
                <a:latin typeface="Aptos Mono"/>
                <a:ea typeface="Aptos Mono"/>
                <a:cs typeface="Aptos Mono"/>
              </a:rPr>
              <a:t>Main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E32EA9-9EBA-4A12-B8F1-5A98942F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686300"/>
            <a:ext cx="177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DF8"/>
                </a:solidFill>
                <a:latin typeface="Aptos"/>
                <a:ea typeface="Aptos"/>
                <a:cs typeface="Aptos"/>
              </a:rPr>
              <a:t>Merge accepted revision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2A745A-3C19-4D90-AC31-CFC268F5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8768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AAB4B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AB4BE"/>
                </a:solidFill>
                <a:latin typeface="Aptos"/>
                <a:ea typeface="Aptos"/>
                <a:cs typeface="Aptos"/>
              </a:rPr>
              <a:t>timestamp + message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1695A6-DC8F-463F-85E7-0FEADDED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76850"/>
            <a:ext cx="285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D3D"/>
          </a:solidFill>
          <a:ln xmlns:a="http://schemas.openxmlformats.org/drawingml/2006/main" w="9525">
            <a:solidFill>
              <a:srgbClr val="4C6A6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CC7BC7-7317-40B3-84F2-AD019F4C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530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CEC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CECE8"/>
                </a:solidFill>
                <a:latin typeface="Aptos"/>
                <a:ea typeface="Aptos"/>
                <a:cs typeface="Aptos"/>
              </a:rPr>
              <a:t>State model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198299-E8B9-4F2E-80FA-5BC44F10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43550"/>
            <a:ext cx="2552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8D1C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8D1C4"/>
                </a:solidFill>
                <a:latin typeface="Aptos"/>
                <a:ea typeface="Aptos"/>
                <a:cs typeface="Aptos"/>
              </a:rPr>
              <a:t>Branch content is reconstructed from commits, not copied as a separate file.</a:t>
            </a:r>
          </a:p>
        </p:txBody>
      </p:sp>
      <p:sp>
        <p:nvSpPr>
          <p:cNvPr id="4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0D561F9-C33F-4397-9B4A-9799F28D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36D4F44B-84D1-4D01-9BCF-6CFA0338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38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42" name="page-marker">
            <a:extLst xmlns:a="http://schemas.openxmlformats.org/drawingml/2006/main">
              <a:ext uri="{FF2B5EF4-FFF2-40B4-BE49-F238E27FC236}">
                <a16:creationId xmlns:a16="http://schemas.microsoft.com/office/drawing/2014/main" id="{6B5C636E-EB2B-4E31-B745-55765A2E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4008218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FF561287-CCC7-405B-A3B8-F4B6919E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AB42512B-D26D-4A01-899B-F8618BC1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55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3FFBC0C9-5C40-487A-BB76-24FE7160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FEATURE 2 / CUSTOM VISUAL DIFF</a:t>
            </a:r>
          </a:p>
        </p:txBody>
      </p:sp>
      <p:sp>
        <p:nvSpPr>
          <p:cNvPr id="4" name="slide-claim">
            <a:extLst xmlns:a="http://schemas.openxmlformats.org/drawingml/2006/main">
              <a:ext uri="{FF2B5EF4-FFF2-40B4-BE49-F238E27FC236}">
                <a16:creationId xmlns:a16="http://schemas.microsoft.com/office/drawing/2014/main" id="{15B99A1D-3AA1-46F4-8AA8-1552835F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191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222831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222831"/>
                </a:solidFill>
                <a:latin typeface="Aptos Display"/>
                <a:ea typeface="Aptos Display"/>
                <a:cs typeface="Aptos Display"/>
              </a:rPr>
              <a:t>The diff engine turns code concepts into reviewable text.</a:t>
            </a:r>
          </a:p>
        </p:txBody>
      </p:sp>
      <p:sp>
        <p:nvSpPr>
          <p:cNvPr id="5" name="diff-viewer">
            <a:extLst xmlns:a="http://schemas.openxmlformats.org/drawingml/2006/main">
              <a:ext uri="{FF2B5EF4-FFF2-40B4-BE49-F238E27FC236}">
                <a16:creationId xmlns:a16="http://schemas.microsoft.com/office/drawing/2014/main" id="{998E20AE-8781-482C-A1EF-4FA15718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66675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F6F5D-65A7-412E-88F0-00190BF0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65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6B665F"/>
                </a:solidFill>
                <a:latin typeface="Aptos Mono"/>
                <a:ea typeface="Aptos Mono"/>
                <a:cs typeface="Aptos Mono"/>
              </a:rPr>
              <a:t>Visual diff viewer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9C551A-D1ED-4EED-9135-108BEF61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765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Main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A6422-F089-45F8-9B6B-E6BF73E5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765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Liability branch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B29C1B-5170-45A8-95FD-482CD380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48DF5-954C-4C2E-90B8-E70430BD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9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7D4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B18D7-0081-4C6F-B0E5-3AC5D53B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099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CD6"/>
          </a:solidFill>
          <a:ln xmlns:a="http://schemas.openxmlformats.org/drawingml/2006/main" w="9525">
            <a:solidFill>
              <a:srgbClr val="CC554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30107F-6A1D-443E-9452-B77634F2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2143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B4474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44747"/>
                </a:solidFill>
                <a:latin typeface="Aptos"/>
                <a:ea typeface="Aptos"/>
                <a:cs typeface="Aptos"/>
              </a:rPr>
              <a:t>The vendor shall deliver services by June 1.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19D2D9-0A38-47EC-B657-3E0E3212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24200"/>
            <a:ext cx="2705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C554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C5548"/>
                </a:solidFill>
                <a:latin typeface="Aptos"/>
                <a:ea typeface="Aptos"/>
                <a:cs typeface="Aptos"/>
              </a:rPr>
              <a:t>The vendor shall deliver services by June 15.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EC22A3-81B1-4A3E-93C1-55AC62C1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909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1436A7-E987-4CBA-84A8-FAA0443B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909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4C8"/>
          </a:solidFill>
          <a:ln xmlns:a="http://schemas.openxmlformats.org/drawingml/2006/main" w="9525">
            <a:solidFill>
              <a:srgbClr val="B783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F72F99-3D0C-4DA6-992B-FA6B051B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2143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2831"/>
                </a:solidFill>
                <a:latin typeface="Aptos"/>
                <a:ea typeface="Aptos"/>
                <a:cs typeface="Aptos"/>
              </a:rPr>
              <a:t>Client may terminate for convenience.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C4D9C5-062E-41FE-AF06-6FC53408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2705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B7832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832F"/>
                </a:solidFill>
                <a:latin typeface="Aptos"/>
                <a:ea typeface="Aptos"/>
                <a:cs typeface="Aptos"/>
              </a:rPr>
              <a:t>Client may terminate for material breach.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AC1623-A199-4B26-B77C-679A59A9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B80BCF-EFD8-4C23-A99C-FE3AABB3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5720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F"/>
          </a:solidFill>
          <a:ln xmlns:a="http://schemas.openxmlformats.org/drawingml/2006/main" w="9525">
            <a:solidFill>
              <a:srgbClr val="2E7D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0A3E20-5EE1-4A16-826E-7B3D6DE0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2143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2831"/>
                </a:solidFill>
                <a:latin typeface="Aptos"/>
                <a:ea typeface="Aptos"/>
                <a:cs typeface="Aptos"/>
              </a:rPr>
              <a:t>Indemnity cap is equal to fees paid.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3C728B-CB87-45B9-8818-6EFF93CB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86300"/>
            <a:ext cx="2705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E7D4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E7D4F"/>
                </a:solidFill>
                <a:latin typeface="Aptos"/>
                <a:ea typeface="Aptos"/>
                <a:cs typeface="Aptos"/>
              </a:rPr>
              <a:t>Indemnity cap is two times fees paid.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10E682-0144-4961-B85D-6A00282F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E8"/>
          </a:solidFill>
          <a:ln xmlns:a="http://schemas.openxmlformats.org/drawingml/2006/main" w="9525">
            <a:solidFill>
              <a:srgbClr val="146C6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D7CFC5-B7FC-4E7F-AB18-02F783EC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76875"/>
            <a:ext cx="243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46C6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6C6C"/>
                </a:solidFill>
                <a:latin typeface="Aptos"/>
                <a:ea typeface="Aptos"/>
                <a:cs typeface="Aptos"/>
              </a:rPr>
              <a:t>?w=1 ignores whitespace-only noise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D2817B-4072-421C-A2F0-4CBB5B3C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526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22831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222831"/>
                </a:solidFill>
                <a:latin typeface="Aptos Display"/>
                <a:ea typeface="Aptos Display"/>
                <a:cs typeface="Aptos Display"/>
              </a:rPr>
              <a:t>Under the hood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711FEC-A55E-45B2-81C1-38458E0F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5265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C33"/>
          </a:solidFill>
          <a:ln xmlns:a="http://schemas.openxmlformats.org/drawingml/2006/main" w="9525">
            <a:solidFill>
              <a:srgbClr val="272C3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1BB261-8B03-45CA-A6BC-A81917C7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05050"/>
            <a:ext cx="3086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3F0E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3F0E7"/>
                </a:solidFill>
                <a:latin typeface="Aptos Mono"/>
                <a:ea typeface="Aptos Mono"/>
                <a:cs typeface="Aptos Mono"/>
              </a:rPr>
              <a:t>compute_edit_script(old, new)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F3F0E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3F0E7"/>
                </a:solidFill>
                <a:latin typeface="Aptos Mono"/>
                <a:ea typeface="Aptos Mono"/>
                <a:cs typeface="Aptos Mono"/>
              </a:rPr>
              <a:t>  hash shared lines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F3F0E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3F0E7"/>
                </a:solidFill>
                <a:latin typeface="Aptos Mono"/>
                <a:ea typeface="Aptos Mono"/>
                <a:cs typeface="Aptos Mono"/>
              </a:rPr>
              <a:t>  trim common prefix/suffix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F3F0E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3F0E7"/>
                </a:solidFill>
                <a:latin typeface="Aptos Mono"/>
                <a:ea typeface="Aptos Mono"/>
                <a:cs typeface="Aptos Mono"/>
              </a:rPr>
              <a:t>  Myers O(ND) shortest path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F3F0E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3F0E7"/>
                </a:solidFill>
                <a:latin typeface="Aptos Mono"/>
                <a:ea typeface="Aptos Mono"/>
                <a:cs typeface="Aptos Mono"/>
              </a:rPr>
              <a:t>  expand to word-level chunks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60D4B0-A341-4D21-B6FE-49F9E0D1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342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E8"/>
          </a:solidFill>
          <a:ln xmlns:a="http://schemas.openxmlformats.org/drawingml/2006/main" w="9525">
            <a:solidFill>
              <a:srgbClr val="146C6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9AC1E6-0643-42FA-9D51-A970E4F7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957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46C6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6C6C"/>
                </a:solidFill>
                <a:latin typeface="Aptos"/>
                <a:ea typeface="Aptos"/>
                <a:cs typeface="Aptos"/>
              </a:rPr>
              <a:t>Construction lesson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3B5D07-A6BC-4F83-BFE5-9E3E7343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62450"/>
            <a:ext cx="2952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22831"/>
                </a:solidFill>
                <a:latin typeface="Aptos"/>
                <a:ea typeface="Aptos"/>
                <a:cs typeface="Aptos"/>
              </a:rPr>
              <a:t>Keeping the diff engine pure made it testable without Flask, SQLAlchemy, or a browser.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46BA50-F53D-4624-AD0F-2C5295D5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290885-5CDB-4A90-94BC-D205FA74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334000"/>
            <a:ext cx="3028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Reviewer value: green additions, red removals, counts for added/removed/modified/unchanged.</a:t>
            </a:r>
          </a:p>
        </p:txBody>
      </p:sp>
      <p:sp>
        <p:nvSpPr>
          <p:cNvPr id="3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58F3D9B-0CCA-4DC9-8846-CE543103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3C405ED7-80EC-4353-96F1-C406C4B6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38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34" name="page-marker">
            <a:extLst xmlns:a="http://schemas.openxmlformats.org/drawingml/2006/main">
              <a:ext uri="{FF2B5EF4-FFF2-40B4-BE49-F238E27FC236}">
                <a16:creationId xmlns:a16="http://schemas.microsoft.com/office/drawing/2014/main" id="{9D4C6930-78B0-40E2-A753-D1B734FF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7593082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3174A6DA-9DC8-47A6-ACCE-60731710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AC655F12-663D-4C3D-9A67-283E79B4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CABB3C0C-E53E-4057-A238-C5DA39B5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FEATURE 3 / SAFE MERGE + EXPORT</a:t>
            </a:r>
          </a:p>
        </p:txBody>
      </p:sp>
      <p:sp>
        <p:nvSpPr>
          <p:cNvPr id="4" name="slide-claim">
            <a:extLst xmlns:a="http://schemas.openxmlformats.org/drawingml/2006/main">
              <a:ext uri="{FF2B5EF4-FFF2-40B4-BE49-F238E27FC236}">
                <a16:creationId xmlns:a16="http://schemas.microsoft.com/office/drawing/2014/main" id="{062BAD21-4A8E-41B9-A15B-6ECE43F2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191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222831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222831"/>
                </a:solidFill>
                <a:latin typeface="Aptos Display"/>
                <a:ea typeface="Aptos Display"/>
                <a:cs typeface="Aptos Display"/>
              </a:rPr>
              <a:t>Safe merge closes the loop without silently overwriting Main.</a:t>
            </a:r>
          </a:p>
        </p:txBody>
      </p:sp>
      <p:sp>
        <p:nvSpPr>
          <p:cNvPr id="5" name="merge-panel">
            <a:extLst xmlns:a="http://schemas.openxmlformats.org/drawingml/2006/main">
              <a:ext uri="{FF2B5EF4-FFF2-40B4-BE49-F238E27FC236}">
                <a16:creationId xmlns:a16="http://schemas.microsoft.com/office/drawing/2014/main" id="{BCB5A16F-CCD7-4DBB-BEAB-F7C10B28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6715125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EE643-D28D-47A0-8372-1DFA5EA6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2831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222831"/>
                </a:solidFill>
                <a:latin typeface="Aptos Display"/>
                <a:ea typeface="Aptos Display"/>
                <a:cs typeface="Aptos Display"/>
              </a:rPr>
              <a:t>Three-way merge preview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80222E-D44A-461E-9748-0FC70D3C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A"/>
          </a:solidFill>
          <a:ln xmlns:a="http://schemas.openxmlformats.org/drawingml/2006/main" w="14288">
            <a:solidFill>
              <a:srgbClr val="6B66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C75B39-74FF-473A-85AE-4440C4F1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1162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22831"/>
                </a:solidFill>
                <a:latin typeface="Aptos"/>
                <a:ea typeface="Aptos"/>
                <a:cs typeface="Aptos"/>
              </a:rPr>
              <a:t>Base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22831"/>
                </a:solidFill>
                <a:latin typeface="Aptos"/>
                <a:ea typeface="Aptos"/>
                <a:cs typeface="Aptos"/>
              </a:rPr>
              <a:t>branch 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45C383-57AF-4937-AA38-77CA88A1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241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4288">
            <a:solidFill>
              <a:srgbClr val="3B5B8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7FB3BC-E9AB-4F2E-A754-BBBAB884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19350"/>
            <a:ext cx="1543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22831"/>
                </a:solidFill>
                <a:latin typeface="Aptos"/>
                <a:ea typeface="Aptos"/>
                <a:cs typeface="Aptos"/>
              </a:rPr>
              <a:t>Current Main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22831"/>
                </a:solidFill>
                <a:latin typeface="Aptos"/>
                <a:ea typeface="Aptos"/>
                <a:cs typeface="Aptos"/>
              </a:rPr>
              <a:t>changed by teammate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62FFE2-E190-4A22-9F5E-BBA1C686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147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CD6"/>
          </a:solidFill>
          <a:ln xmlns:a="http://schemas.openxmlformats.org/drawingml/2006/main" w="14288">
            <a:solidFill>
              <a:srgbClr val="CC554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DC8608-18A1-4560-A092-8B920034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10000"/>
            <a:ext cx="1543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22831"/>
                </a:solidFill>
                <a:latin typeface="Aptos"/>
                <a:ea typeface="Aptos"/>
                <a:cs typeface="Aptos"/>
              </a:rPr>
              <a:t>Incoming Branch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22831"/>
                </a:solidFill>
                <a:latin typeface="Aptos"/>
                <a:ea typeface="Aptos"/>
                <a:cs typeface="Aptos"/>
              </a:rPr>
              <a:t>changed by drafter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D46465-2E6E-436A-894D-14BA0648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051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802661-4323-4416-970B-A3CD1533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957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EE6AA0-9506-4140-B66F-ACDDC678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05150"/>
            <a:ext cx="285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767AAB-1D45-4AF6-B81F-E1BD2AFF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43200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00D427-B06B-4E5B-9712-9DC1D21B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33850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CF9F8B-F51C-4198-93A4-45303B15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43200"/>
            <a:ext cx="2857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1A3E78-01D4-4765-8531-2BE832FF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105150"/>
            <a:ext cx="1581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F"/>
          </a:solidFill>
          <a:ln xmlns:a="http://schemas.openxmlformats.org/drawingml/2006/main" w="14288">
            <a:solidFill>
              <a:srgbClr val="2E7D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618F70-230C-47C4-9B69-B78B342D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200400"/>
            <a:ext cx="1314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2831"/>
                </a:solidFill>
                <a:latin typeface="Aptos"/>
                <a:ea typeface="Aptos"/>
                <a:cs typeface="Aptos"/>
              </a:rPr>
              <a:t>Conflict resolver</a:t>
            </a:r>
          </a:p>
          <a:p xmlns:a="http://schemas.openxmlformats.org/drawingml/2006/main">
            <a:pPr algn="l">
              <a:buNone/>
              <a:defRPr sz="1050" b="1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2831"/>
                </a:solidFill>
                <a:latin typeface="Aptos"/>
                <a:ea typeface="Aptos"/>
                <a:cs typeface="Aptos"/>
              </a:rPr>
              <a:t>choose Main, Branch, or custom text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EE1A2A-40B1-4BB3-8B91-86DD1711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43500"/>
            <a:ext cx="5562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Clean changes auto-merge; overlapping edits stop and ask the user.</a:t>
            </a:r>
          </a:p>
        </p:txBody>
      </p:sp>
      <p:sp>
        <p:nvSpPr>
          <p:cNvPr id="22" name="export-panel">
            <a:extLst xmlns:a="http://schemas.openxmlformats.org/drawingml/2006/main">
              <a:ext uri="{FF2B5EF4-FFF2-40B4-BE49-F238E27FC236}">
                <a16:creationId xmlns:a16="http://schemas.microsoft.com/office/drawing/2014/main" id="{FC0E4E03-7CDF-4F2D-A622-F5D443E6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771650"/>
            <a:ext cx="342900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2B"/>
          </a:solidFill>
          <a:ln xmlns:a="http://schemas.openxmlformats.org/drawingml/2006/main" w="9525">
            <a:solidFill>
              <a:srgbClr val="26332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EA2F90-E603-40EC-8708-8DEB3299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764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DDEBD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DDEBDF"/>
                </a:solidFill>
                <a:latin typeface="Aptos Display"/>
                <a:ea typeface="Aptos Display"/>
                <a:cs typeface="Aptos Display"/>
              </a:rPr>
              <a:t>After merge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08BBBF-D1BD-4637-BD31-342292BA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717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4E0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6095FF-5454-4715-99DF-DBC479BA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28950"/>
            <a:ext cx="1676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8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F98B7A-A68B-4320-BBBF-6C8C064D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0995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AF99AA-C2D7-4874-A8CE-6F61FAE8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3855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8FCB5D-73FF-4BB3-B63F-BB73D4CF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6715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1971A5-BF74-4B11-AD56-03C2473D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9575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AAAACB-EB49-4155-980F-E18E2E03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19700"/>
            <a:ext cx="1695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37"/>
          </a:solidFill>
          <a:ln xmlns:a="http://schemas.openxmlformats.org/drawingml/2006/main" w="9525">
            <a:solidFill>
              <a:srgbClr val="DDEB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A6A2FB-EC84-46BE-8449-541A840A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267325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DEBD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DEBDF"/>
                </a:solidFill>
                <a:latin typeface="Aptos"/>
                <a:ea typeface="Aptos"/>
                <a:cs typeface="Aptos"/>
              </a:rPr>
              <a:t>Download DOCX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1128B8-148B-4251-85CC-A2D8524F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74357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DEBD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DEBDF"/>
                </a:solidFill>
                <a:latin typeface="Aptos"/>
                <a:ea typeface="Aptos"/>
                <a:cs typeface="Aptos"/>
              </a:rPr>
              <a:t>DOCX export from TipTap JSON.</a:t>
            </a:r>
          </a:p>
        </p:txBody>
      </p:sp>
      <p:sp>
        <p:nvSpPr>
          <p:cNvPr id="3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309BA09-808A-416A-8D78-7FD08525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C811490E-92FA-4EA8-99F4-5709AE84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38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3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48ADFCCA-0313-41C2-9317-B4435E9A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4851928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1974775E-423C-4ED1-98C5-F42C03CF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5602ED62-8CEB-4BB6-9C0F-46348345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B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3AB5BC9A-7D5F-4130-9B19-396D8038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LESSONS / WHAT WENT WELL</a:t>
            </a:r>
          </a:p>
        </p:txBody>
      </p:sp>
      <p:sp>
        <p:nvSpPr>
          <p:cNvPr id="4" name="slide-claim">
            <a:extLst xmlns:a="http://schemas.openxmlformats.org/drawingml/2006/main">
              <a:ext uri="{FF2B5EF4-FFF2-40B4-BE49-F238E27FC236}">
                <a16:creationId xmlns:a16="http://schemas.microsoft.com/office/drawing/2014/main" id="{1F49FBF3-E988-4DDC-B253-53BE4876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191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222831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222831"/>
                </a:solidFill>
                <a:latin typeface="Aptos Display"/>
                <a:ea typeface="Aptos Display"/>
                <a:cs typeface="Aptos Display"/>
              </a:rPr>
              <a:t>Boundaries made the hard parts testable.</a:t>
            </a:r>
          </a:p>
        </p:txBody>
      </p:sp>
      <p:sp>
        <p:nvSpPr>
          <p:cNvPr id="5" name="architecture-map">
            <a:extLst xmlns:a="http://schemas.openxmlformats.org/drawingml/2006/main">
              <a:ext uri="{FF2B5EF4-FFF2-40B4-BE49-F238E27FC236}">
                <a16:creationId xmlns:a16="http://schemas.microsoft.com/office/drawing/2014/main" id="{863824A0-27FB-49CD-B748-077A55FD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75247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F735E6-6F52-4C9B-B688-8F999C1F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2831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222831"/>
                </a:solidFill>
                <a:latin typeface="Aptos Display"/>
                <a:ea typeface="Aptos Display"/>
                <a:cs typeface="Aptos Display"/>
              </a:rPr>
              <a:t>Construction principle applied: separation of concerns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01D6B0-F4F5-4F1F-8B24-0DC9DF91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1676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14288">
            <a:solidFill>
              <a:srgbClr val="3B5B8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98260C-4CA9-4EAB-8C48-2D11D00C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09900"/>
            <a:ext cx="1409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2831"/>
                </a:solidFill>
                <a:latin typeface="Aptos"/>
                <a:ea typeface="Aptos"/>
                <a:cs typeface="Aptos"/>
              </a:rPr>
              <a:t>React views</a:t>
            </a:r>
          </a:p>
          <a:p xmlns:a="http://schemas.openxmlformats.org/drawingml/2006/main">
            <a:pPr algn="l">
              <a:buNone/>
              <a:defRPr sz="1050" b="1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2831"/>
                </a:solidFill>
                <a:latin typeface="Aptos"/>
                <a:ea typeface="Aptos"/>
                <a:cs typeface="Aptos"/>
              </a:rPr>
              <a:t>Editor, DiffViewer,</a:t>
            </a:r>
          </a:p>
          <a:p xmlns:a="http://schemas.openxmlformats.org/drawingml/2006/main">
            <a:pPr algn="l">
              <a:buNone/>
              <a:defRPr sz="1050" b="1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2831"/>
                </a:solidFill>
                <a:latin typeface="Aptos"/>
                <a:ea typeface="Aptos"/>
                <a:cs typeface="Aptos"/>
              </a:rPr>
              <a:t>ConflictResolver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C87506-3DC6-4C7F-99BF-BDD558D4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14650"/>
            <a:ext cx="1676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E8"/>
          </a:solidFill>
          <a:ln xmlns:a="http://schemas.openxmlformats.org/drawingml/2006/main" w="14288">
            <a:solidFill>
              <a:srgbClr val="146C6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CFDCDB-9716-4F51-8C85-BE7C264C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09900"/>
            <a:ext cx="1409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2831"/>
                </a:solidFill>
                <a:latin typeface="Aptos"/>
                <a:ea typeface="Aptos"/>
                <a:cs typeface="Aptos"/>
              </a:rPr>
              <a:t>API routes</a:t>
            </a:r>
          </a:p>
          <a:p xmlns:a="http://schemas.openxmlformats.org/drawingml/2006/main">
            <a:pPr algn="l">
              <a:buNone/>
              <a:defRPr sz="1050" b="1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2831"/>
                </a:solidFill>
                <a:latin typeface="Aptos"/>
                <a:ea typeface="Aptos"/>
                <a:cs typeface="Aptos"/>
              </a:rPr>
              <a:t>documents, branches,</a:t>
            </a:r>
          </a:p>
          <a:p xmlns:a="http://schemas.openxmlformats.org/drawingml/2006/main">
            <a:pPr algn="l">
              <a:buNone/>
              <a:defRPr sz="1050" b="1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2831"/>
                </a:solidFill>
                <a:latin typeface="Aptos"/>
                <a:ea typeface="Aptos"/>
                <a:cs typeface="Aptos"/>
              </a:rPr>
              <a:t>merge, auth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8F51CE-A418-4BF0-A8B3-12784709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914650"/>
            <a:ext cx="1676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CD6"/>
          </a:solidFill>
          <a:ln xmlns:a="http://schemas.openxmlformats.org/drawingml/2006/main" w="14288">
            <a:solidFill>
              <a:srgbClr val="CC554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A2341A-A167-45B6-BB6F-3D89D86A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09900"/>
            <a:ext cx="1409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2831"/>
                </a:solidFill>
                <a:latin typeface="Aptos"/>
                <a:ea typeface="Aptos"/>
                <a:cs typeface="Aptos"/>
              </a:rPr>
              <a:t>Pure algorithms</a:t>
            </a:r>
          </a:p>
          <a:p xmlns:a="http://schemas.openxmlformats.org/drawingml/2006/main">
            <a:pPr algn="l">
              <a:buNone/>
              <a:defRPr sz="1050" b="1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2831"/>
                </a:solidFill>
                <a:latin typeface="Aptos"/>
                <a:ea typeface="Aptos"/>
                <a:cs typeface="Aptos"/>
              </a:rPr>
              <a:t>Diff engine</a:t>
            </a:r>
          </a:p>
          <a:p xmlns:a="http://schemas.openxmlformats.org/drawingml/2006/main">
            <a:pPr algn="l">
              <a:buNone/>
              <a:defRPr sz="1050" b="1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2831"/>
                </a:solidFill>
                <a:latin typeface="Aptos"/>
                <a:ea typeface="Aptos"/>
                <a:cs typeface="Aptos"/>
              </a:rPr>
              <a:t>Merge engine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F3D410-9F78-460D-9992-1067D696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099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26207E-CE77-49E2-9F74-ABA002DC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099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0E4028-E47A-4106-BAE4-A1590785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7200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4C8"/>
          </a:solidFill>
          <a:ln xmlns:a="http://schemas.openxmlformats.org/drawingml/2006/main" w="14288">
            <a:solidFill>
              <a:srgbClr val="B783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682FFB-C4B2-4956-8CA0-830EAF8B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67250"/>
            <a:ext cx="2305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2831"/>
                </a:solidFill>
                <a:latin typeface="Aptos"/>
                <a:ea typeface="Aptos"/>
                <a:cs typeface="Aptos"/>
              </a:rPr>
              <a:t>SQLAlchemy models</a:t>
            </a:r>
          </a:p>
          <a:p xmlns:a="http://schemas.openxmlformats.org/drawingml/2006/main">
            <a:pPr algn="l">
              <a:buNone/>
              <a:defRPr sz="1050" b="1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2831"/>
                </a:solidFill>
                <a:latin typeface="Aptos"/>
                <a:ea typeface="Aptos"/>
                <a:cs typeface="Aptos"/>
              </a:rPr>
              <a:t>User, Project, Document,</a:t>
            </a:r>
          </a:p>
          <a:p xmlns:a="http://schemas.openxmlformats.org/drawingml/2006/main">
            <a:pPr algn="l">
              <a:buNone/>
              <a:defRPr sz="1050" b="1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2831"/>
                </a:solidFill>
                <a:latin typeface="Aptos"/>
                <a:ea typeface="Aptos"/>
                <a:cs typeface="Aptos"/>
              </a:rPr>
              <a:t>Branch, Commit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22E1EA-57F0-4CF4-BBD8-329E9D8C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0525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FFAFAE-CBB8-4A64-802F-7EB76E72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0525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D0A6B8-2C78-45D7-B818-1382F443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67350"/>
            <a:ext cx="628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The UI can change, routes can validate, and algorithms can be tested in isolation.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BC88FC-DE6B-4D5F-ADF5-64104BF5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335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22831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22831"/>
                </a:solidFill>
                <a:latin typeface="Aptos Display"/>
                <a:ea typeface="Aptos Display"/>
                <a:cs typeface="Aptos Display"/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43C80C-37D7-42FF-A90F-1FD78B4E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098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46C6C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46C6C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58B55E-318E-4401-B127-1ACBC0BF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241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distinct implemented features completed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6A5CCD-3D86-4B00-9784-24AB6E76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718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CC5548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CC5548"/>
                </a:solidFill>
                <a:latin typeface="Aptos Display"/>
                <a:ea typeface="Aptos Display"/>
                <a:cs typeface="Aptos Display"/>
              </a:rPr>
              <a:t>2+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90B65F-4FC4-497D-BA2B-84C006E2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862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automated end-to-end workflows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21BB67-8B12-436F-8BF7-FB9EF8FF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895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3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E1BFC7-D471-4923-9853-3DA9D15F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96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22831"/>
                </a:solidFill>
                <a:latin typeface="Aptos"/>
                <a:ea typeface="Aptos"/>
                <a:cs typeface="Aptos"/>
              </a:rPr>
              <a:t>Unit/integration tests cover diff, safe merge, branch isolation, export, projects.</a:t>
            </a:r>
          </a:p>
        </p:txBody>
      </p:sp>
      <p:sp>
        <p:nvSpPr>
          <p:cNvPr id="2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B964E51-EB8D-4A7B-A8AB-92A7987F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B7E44BE2-A5E8-4FA4-89E5-B80198E4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38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29" name="page-marker">
            <a:extLst xmlns:a="http://schemas.openxmlformats.org/drawingml/2006/main">
              <a:ext uri="{FF2B5EF4-FFF2-40B4-BE49-F238E27FC236}">
                <a16:creationId xmlns:a16="http://schemas.microsoft.com/office/drawing/2014/main" id="{098FFB96-5E99-4506-916B-FF368DA6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1451124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FC11E394-1F10-43B0-AF2F-2B39F7A3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9A79B4A5-E576-4B0B-9ED0-360E9A27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55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08B0BE32-6F6C-426F-B833-C865BC6B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LESSONS / WHAT WENT WRONG</a:t>
            </a:r>
          </a:p>
        </p:txBody>
      </p:sp>
      <p:sp>
        <p:nvSpPr>
          <p:cNvPr id="4" name="slide-claim">
            <a:extLst xmlns:a="http://schemas.openxmlformats.org/drawingml/2006/main">
              <a:ext uri="{FF2B5EF4-FFF2-40B4-BE49-F238E27FC236}">
                <a16:creationId xmlns:a16="http://schemas.microsoft.com/office/drawing/2014/main" id="{7929469C-54E7-4904-811F-48FFBC0B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191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222831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222831"/>
                </a:solidFill>
                <a:latin typeface="Aptos Display"/>
                <a:ea typeface="Aptos Display"/>
                <a:cs typeface="Aptos Display"/>
              </a:rPr>
              <a:t>Most bugs appeared where independently correct pieces met.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809C8-3BD3-4ED9-AB10-6CF55774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Issue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A386C-980C-4281-9A44-2982D188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526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Why it happened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CBBF86-134E-4D92-99A7-51FFE6C5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DEE346-3A26-4605-970C-48FA6983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526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E7D4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E7D4F"/>
                </a:solidFill>
                <a:latin typeface="Aptos"/>
                <a:ea typeface="Aptos"/>
                <a:cs typeface="Aptos"/>
              </a:rPr>
              <a:t>Do differently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184AB0-CF0D-472C-A4A0-CF4098DD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833F3E-540C-45D6-8819-20FDB911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363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F83663-1B17-41CD-9909-6BEF72AC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2831"/>
                </a:solidFill>
                <a:latin typeface="Aptos"/>
                <a:ea typeface="Aptos"/>
                <a:cs typeface="Aptos"/>
              </a:rPr>
              <a:t>Merge assumptions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DEDC5-C931-4FDD-9BC3-CC7B69AC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383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Early logic compared branch to Main, not base/main/branch.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51B701-642B-4787-8D5F-CA878EC1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38350"/>
            <a:ext cx="2114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C554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C5548"/>
                </a:solidFill>
                <a:latin typeface="Aptos"/>
                <a:ea typeface="Aptos"/>
                <a:cs typeface="Aptos"/>
              </a:rPr>
              <a:t>Conflicts could be hidden.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CFADD1-4084-4C72-B030-AE89E8FA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383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E7D4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E7D4F"/>
                </a:solidFill>
                <a:latin typeface="Aptos"/>
                <a:ea typeface="Aptos"/>
                <a:cs typeface="Aptos"/>
              </a:rPr>
              <a:t>Design the algorithm around invariants first.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D46093-9A9A-4639-8F33-B2924099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0363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E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32ACF4-95B7-4BC4-B9AD-C293DA5E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2831"/>
                </a:solidFill>
                <a:latin typeface="Aptos"/>
                <a:ea typeface="Aptos"/>
                <a:cs typeface="Aptos"/>
              </a:rPr>
              <a:t>Rich text export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BA0D3F-4DAC-4DB7-8A73-89975750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TipTap stores structured JSON while older paths expected plain text.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CAFF48-2986-4719-A821-9BB79495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76550"/>
            <a:ext cx="2114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C554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C5548"/>
                </a:solidFill>
                <a:latin typeface="Aptos"/>
                <a:ea typeface="Aptos"/>
                <a:cs typeface="Aptos"/>
              </a:rPr>
              <a:t>DOCX wiring needed a separate generator.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D0A328-510A-4498-BBFE-242219CC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765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E7D4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E7D4F"/>
                </a:solidFill>
                <a:latin typeface="Aptos"/>
                <a:ea typeface="Aptos"/>
                <a:cs typeface="Aptos"/>
              </a:rPr>
              <a:t>Decide serialization format before UI polish.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34E08F-2E25-4153-B3AC-63288ECC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10363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0B979B-F7D4-46C9-A2CC-C7AE5484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2831"/>
                </a:solidFill>
                <a:latin typeface="Aptos"/>
                <a:ea typeface="Aptos"/>
                <a:cs typeface="Aptos"/>
              </a:rPr>
              <a:t>Branch isolation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F0134D-78AD-4064-B163-370354EC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147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Shared document state felt simple until sibling branches diverged.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EEDDBF-C7C4-4627-98EE-5CC443D6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14750"/>
            <a:ext cx="2114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C554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C5548"/>
                </a:solidFill>
                <a:latin typeface="Aptos"/>
                <a:ea typeface="Aptos"/>
                <a:cs typeface="Aptos"/>
              </a:rPr>
              <a:t>Tests caught mutation risk late.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44E2AD-304E-4F29-8FF3-C521C1B5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147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E7D4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E7D4F"/>
                </a:solidFill>
                <a:latin typeface="Aptos"/>
                <a:ea typeface="Aptos"/>
                <a:cs typeface="Aptos"/>
              </a:rPr>
              <a:t>Write lifecycle tests before adding features.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2E6654-F1E2-4C6A-AD71-DBD795B4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0363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E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57979E-0B18-4125-9CBD-75A0BCB8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283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2831"/>
                </a:solidFill>
                <a:latin typeface="Aptos"/>
                <a:ea typeface="Aptos"/>
                <a:cs typeface="Aptos"/>
              </a:rPr>
              <a:t>Architecture diagrams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DDB439-78FE-455A-B9ED-4D93D02E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529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>Implementation moved faster than documentation.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225F32-7D49-44E2-A047-AA8BC648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52950"/>
            <a:ext cx="2114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C554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C5548"/>
                </a:solidFill>
                <a:latin typeface="Aptos"/>
                <a:ea typeface="Aptos"/>
                <a:cs typeface="Aptos"/>
              </a:rPr>
              <a:t>Final rubric item stayed unfinished.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4DB0D4-79AF-4788-AC1A-BB603314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529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E7D4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E7D4F"/>
                </a:solidFill>
                <a:latin typeface="Aptos"/>
                <a:ea typeface="Aptos"/>
                <a:cs typeface="Aptos"/>
              </a:rPr>
              <a:t>Track grading artifacts like product work.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987041-5408-43EC-B940-D92CB399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00700"/>
            <a:ext cx="10334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138"/>
          </a:solidFill>
          <a:ln xmlns:a="http://schemas.openxmlformats.org/drawingml/2006/main" w="9525">
            <a:solidFill>
              <a:srgbClr val="2B313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D47B13-7F26-43CA-ABDF-F96A1F76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72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3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77EDBC-A918-435F-9E08-B902CC70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95950"/>
            <a:ext cx="933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DF8"/>
                </a:solidFill>
                <a:latin typeface="Aptos"/>
                <a:ea typeface="Aptos"/>
                <a:cs typeface="Aptos"/>
              </a:rPr>
              <a:t>Takeaway: integration tests were not optional glue; they were the only way to prove the whole workflow.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2551A7-8328-44E1-A1AD-65126D3A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19300"/>
            <a:ext cx="9525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163234-DE2E-49D6-B8F2-472FD884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19300"/>
            <a:ext cx="9525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586AA7-65EA-415E-A83B-BC380962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19300"/>
            <a:ext cx="9525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37E8D9C-C67A-4F6F-98F1-A3AB1196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A845B9BB-3D2B-4785-856E-6D197E48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38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65F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38" name="page-marker">
            <a:extLst xmlns:a="http://schemas.openxmlformats.org/drawingml/2006/main">
              <a:ext uri="{FF2B5EF4-FFF2-40B4-BE49-F238E27FC236}">
                <a16:creationId xmlns:a16="http://schemas.microsoft.com/office/drawing/2014/main" id="{DCB8C2D4-EBC1-4244-9FE7-D2BE538F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B66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665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546333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2026-06-04T02:26:30.4700000Z</dcterms:created>
  <dcterms:modified xsi:type="dcterms:W3CDTF">2026-06-04T02:26:30.4700000Z</dcterms:modified>
</coreProperties>
</file>